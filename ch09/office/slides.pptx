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별무리책뜰도서관 휴관 및 이용 시간 변경 안내</a:t>
            </a:r>
          </a:p>
        </p:txBody>
      </p:sp>
      <p:sp>
        <p:nvSpPr>
          <p:cNvPr id="3" name="Subtitle 2"/>
          <p:cNvSpPr>
            <a:spLocks noGrp="1"/>
          </p:cNvSpPr>
          <p:nvPr>
            <p:ph type="subTitle" idx="1"/>
          </p:nvPr>
        </p:nvSpPr>
        <p:spPr/>
        <p:txBody>
          <a:bodyPr/>
          <a:lstStyle/>
          <a:p>
            <a:r>
              <a:t>가상 안내 자료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주요 내용</a:t>
            </a:r>
          </a:p>
        </p:txBody>
      </p:sp>
      <p:sp>
        <p:nvSpPr>
          <p:cNvPr id="3" name="Content Placeholder 2"/>
          <p:cNvSpPr>
            <a:spLocks noGrp="1"/>
          </p:cNvSpPr>
          <p:nvPr>
            <p:ph idx="1"/>
          </p:nvPr>
        </p:nvSpPr>
        <p:spPr/>
        <p:txBody>
          <a:bodyPr/>
          <a:lstStyle/>
          <a:p>
            <a:r>
              <a:t>별무리책뜰도서관을 찾아 주시는 이용자 여러분께 안내드립니다. 시설 점검과 내부 자료 정리로 인해 가상의 일정인 2091년 4월 12일(토)부터 4월 14일(월)까지 도서관 전체를 임시 휴관합니다. 해당 기간에는 자료실과 열람 공간을 이용하실 수 없습니다.</a:t>
            </a:r>
          </a:p>
          <a:p>
            <a:r>
              <a:t>휴관에 따라 대출 도서의 반납 예정일은 별도 신청 없이 4월 18일(금)까지 연장됩니다. 무인 반납함도 점검 기간에는 운영하지 않으니, 휴관 전후에 반납해 주시기 바랍니다. 예약 자료의 보관 기간 역시 휴관 일수만큼 자동으로 늘어납니다.</a:t>
            </a:r>
          </a:p>
          <a:p>
            <a:r>
              <a:t>재개관일인 4월 15일(화)부터는 이용 시간이 변경됩니다. 평일은 오전 10시부터 오후 7시까지, 주말은 오전 10시부터 오후 5시까지 운영하며, 매주 수요일은 정기 휴관합니다. 변경된 시간은 별도 안내가 있을 때까지 적용됩니다.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가상 분기별 매출과 이익</a:t>
            </a:r>
          </a:p>
        </p:txBody>
      </p:sp>
      <p:graphicFrame>
        <p:nvGraphicFramePr>
          <p:cNvPr id="3" name="Table 2"/>
          <p:cNvGraphicFramePr>
            <a:graphicFrameLocks noGrp="1"/>
          </p:cNvGraphicFramePr>
          <p:nvPr/>
        </p:nvGraphicFramePr>
        <p:xfrm>
          <a:off x="274320" y="1371600"/>
          <a:ext cx="8595360" cy="3657600"/>
        </p:xfrm>
        <a:graphic>
          <a:graphicData uri="http://schemas.openxmlformats.org/drawingml/2006/table">
            <a:tbl>
              <a:tblPr firstRow="1" bandRow="1">
                <a:tableStyleId>{5C22544A-7EE6-4342-B048-85BDC9FD1C3A}</a:tableStyleId>
              </a:tblPr>
              <a:tblGrid>
                <a:gridCol w="1432560"/>
                <a:gridCol w="1432560"/>
                <a:gridCol w="1432560"/>
                <a:gridCol w="1432560"/>
                <a:gridCol w="1432560"/>
                <a:gridCol w="1432560"/>
              </a:tblGrid>
              <a:tr h="522514">
                <a:tc>
                  <a:txBody>
                    <a:bodyPr/>
                    <a:lstStyle/>
                    <a:p>
                      <a:r>
                        <a:t>분기</a:t>
                      </a:r>
                    </a:p>
                  </a:txBody>
                  <a:tcPr/>
                </a:tc>
                <a:tc>
                  <a:txBody>
                    <a:bodyPr/>
                    <a:lstStyle/>
                    <a:p>
                      <a:r>
                        <a:t>집계일</a:t>
                      </a:r>
                    </a:p>
                  </a:txBody>
                  <a:tcPr/>
                </a:tc>
                <a:tc>
                  <a:txBody>
                    <a:bodyPr/>
                    <a:lstStyle/>
                    <a:p>
                      <a:r>
                        <a:t>구분</a:t>
                      </a:r>
                    </a:p>
                  </a:txBody>
                  <a:tcPr/>
                </a:tc>
                <a:tc>
                  <a:txBody>
                    <a:bodyPr/>
                    <a:lstStyle/>
                    <a:p>
                      <a:r>
                        <a:t>매출액(원)</a:t>
                      </a:r>
                    </a:p>
                  </a:txBody>
                  <a:tcPr/>
                </a:tc>
                <a:tc>
                  <a:txBody>
                    <a:bodyPr/>
                    <a:lstStyle/>
                    <a:p>
                      <a:r>
                        <a:t>비용(원)</a:t>
                      </a:r>
                    </a:p>
                  </a:txBody>
                  <a:tcPr/>
                </a:tc>
                <a:tc>
                  <a:txBody>
                    <a:bodyPr/>
                    <a:lstStyle/>
                    <a:p>
                      <a:r>
                        <a:t>이익(원)</a:t>
                      </a:r>
                    </a:p>
                  </a:txBody>
                  <a:tcPr/>
                </a:tc>
              </a:tr>
              <a:tr h="522514">
                <a:tc>
                  <a:txBody>
                    <a:bodyPr/>
                    <a:lstStyle/>
                    <a:p>
                      <a:r>
                        <a:t>1분기</a:t>
                      </a:r>
                    </a:p>
                  </a:txBody>
                  <a:tcPr/>
                </a:tc>
                <a:tc>
                  <a:txBody>
                    <a:bodyPr/>
                    <a:lstStyle/>
                    <a:p>
                      <a:r>
                        <a:t>2028-01-31</a:t>
                      </a:r>
                    </a:p>
                  </a:txBody>
                  <a:tcPr/>
                </a:tc>
                <a:tc>
                  <a:txBody>
                    <a:bodyPr/>
                    <a:lstStyle/>
                    <a:p>
                      <a:r>
                        <a:t>가상구역 1</a:t>
                      </a:r>
                    </a:p>
                  </a:txBody>
                  <a:tcPr/>
                </a:tc>
                <a:tc>
                  <a:txBody>
                    <a:bodyPr/>
                    <a:lstStyle/>
                    <a:p>
                      <a:r>
                        <a:t>12500000</a:t>
                      </a:r>
                    </a:p>
                  </a:txBody>
                  <a:tcPr/>
                </a:tc>
                <a:tc>
                  <a:txBody>
                    <a:bodyPr/>
                    <a:lstStyle/>
                    <a:p>
                      <a:r>
                        <a:t>8900000</a:t>
                      </a:r>
                    </a:p>
                  </a:txBody>
                  <a:tcPr/>
                </a:tc>
                <a:tc>
                  <a:txBody>
                    <a:bodyPr/>
                    <a:lstStyle/>
                    <a:p>
                      <a:r>
                        <a:t>3600000</a:t>
                      </a:r>
                    </a:p>
                  </a:txBody>
                  <a:tcPr/>
                </a:tc>
              </a:tr>
              <a:tr h="522514">
                <a:tc>
                  <a:txBody>
                    <a:bodyPr/>
                    <a:lstStyle/>
                    <a:p>
                      <a:r>
                        <a:t>1분기</a:t>
                      </a:r>
                    </a:p>
                  </a:txBody>
                  <a:tcPr/>
                </a:tc>
                <a:tc>
                  <a:txBody>
                    <a:bodyPr/>
                    <a:lstStyle/>
                    <a:p>
                      <a:r>
                        <a:t>2028-03-31</a:t>
                      </a:r>
                    </a:p>
                  </a:txBody>
                  <a:tcPr/>
                </a:tc>
                <a:tc>
                  <a:txBody>
                    <a:bodyPr/>
                    <a:lstStyle/>
                    <a:p>
                      <a:r>
                        <a:t>가상구역 2</a:t>
                      </a:r>
                    </a:p>
                  </a:txBody>
                  <a:tcPr/>
                </a:tc>
                <a:tc>
                  <a:txBody>
                    <a:bodyPr/>
                    <a:lstStyle/>
                    <a:p>
                      <a:r>
                        <a:t>14800000</a:t>
                      </a:r>
                    </a:p>
                  </a:txBody>
                  <a:tcPr/>
                </a:tc>
                <a:tc>
                  <a:txBody>
                    <a:bodyPr/>
                    <a:lstStyle/>
                    <a:p>
                      <a:r>
                        <a:t>10100000</a:t>
                      </a:r>
                    </a:p>
                  </a:txBody>
                  <a:tcPr/>
                </a:tc>
                <a:tc>
                  <a:txBody>
                    <a:bodyPr/>
                    <a:lstStyle/>
                    <a:p>
                      <a:r>
                        <a:t>4700000</a:t>
                      </a:r>
                    </a:p>
                  </a:txBody>
                  <a:tcPr/>
                </a:tc>
              </a:tr>
              <a:tr h="522514">
                <a:tc>
                  <a:txBody>
                    <a:bodyPr/>
                    <a:lstStyle/>
                    <a:p>
                      <a:r>
                        <a:t>2분기</a:t>
                      </a:r>
                    </a:p>
                  </a:txBody>
                  <a:tcPr/>
                </a:tc>
                <a:tc>
                  <a:txBody>
                    <a:bodyPr/>
                    <a:lstStyle/>
                    <a:p>
                      <a:r>
                        <a:t>2028-04-30</a:t>
                      </a:r>
                    </a:p>
                  </a:txBody>
                  <a:tcPr/>
                </a:tc>
                <a:tc>
                  <a:txBody>
                    <a:bodyPr/>
                    <a:lstStyle/>
                    <a:p>
                      <a:r>
                        <a:t>가상구역 1</a:t>
                      </a:r>
                    </a:p>
                  </a:txBody>
                  <a:tcPr/>
                </a:tc>
                <a:tc>
                  <a:txBody>
                    <a:bodyPr/>
                    <a:lstStyle/>
                    <a:p>
                      <a:r>
                        <a:t>13200000</a:t>
                      </a:r>
                    </a:p>
                  </a:txBody>
                  <a:tcPr/>
                </a:tc>
                <a:tc>
                  <a:txBody>
                    <a:bodyPr/>
                    <a:lstStyle/>
                    <a:p>
                      <a:r>
                        <a:t>9200000</a:t>
                      </a:r>
                    </a:p>
                  </a:txBody>
                  <a:tcPr/>
                </a:tc>
                <a:tc>
                  <a:txBody>
                    <a:bodyPr/>
                    <a:lstStyle/>
                    <a:p>
                      <a:r>
                        <a:t>4000000</a:t>
                      </a:r>
                    </a:p>
                  </a:txBody>
                  <a:tcPr/>
                </a:tc>
              </a:tr>
              <a:tr h="522514">
                <a:tc>
                  <a:txBody>
                    <a:bodyPr/>
                    <a:lstStyle/>
                    <a:p>
                      <a:r>
                        <a:t>2분기</a:t>
                      </a:r>
                    </a:p>
                  </a:txBody>
                  <a:tcPr/>
                </a:tc>
                <a:tc>
                  <a:txBody>
                    <a:bodyPr/>
                    <a:lstStyle/>
                    <a:p>
                      <a:r>
                        <a:t>2028-06-30</a:t>
                      </a:r>
                    </a:p>
                  </a:txBody>
                  <a:tcPr/>
                </a:tc>
                <a:tc>
                  <a:txBody>
                    <a:bodyPr/>
                    <a:lstStyle/>
                    <a:p>
                      <a:r>
                        <a:t>가상구역 2</a:t>
                      </a:r>
                    </a:p>
                  </a:txBody>
                  <a:tcPr/>
                </a:tc>
                <a:tc>
                  <a:txBody>
                    <a:bodyPr/>
                    <a:lstStyle/>
                    <a:p>
                      <a:r>
                        <a:t>15900000</a:t>
                      </a:r>
                    </a:p>
                  </a:txBody>
                  <a:tcPr/>
                </a:tc>
                <a:tc>
                  <a:txBody>
                    <a:bodyPr/>
                    <a:lstStyle/>
                    <a:p>
                      <a:r>
                        <a:t>10800000</a:t>
                      </a:r>
                    </a:p>
                  </a:txBody>
                  <a:tcPr/>
                </a:tc>
                <a:tc>
                  <a:txBody>
                    <a:bodyPr/>
                    <a:lstStyle/>
                    <a:p>
                      <a:r>
                        <a:t>5100000</a:t>
                      </a:r>
                    </a:p>
                  </a:txBody>
                  <a:tcPr/>
                </a:tc>
              </a:tr>
              <a:tr h="522514">
                <a:tc>
                  <a:txBody>
                    <a:bodyPr/>
                    <a:lstStyle/>
                    <a:p>
                      <a:r>
                        <a:t>3분기</a:t>
                      </a:r>
                    </a:p>
                  </a:txBody>
                  <a:tcPr/>
                </a:tc>
                <a:tc>
                  <a:txBody>
                    <a:bodyPr/>
                    <a:lstStyle/>
                    <a:p>
                      <a:r>
                        <a:t>2028-07-31</a:t>
                      </a:r>
                    </a:p>
                  </a:txBody>
                  <a:tcPr/>
                </a:tc>
                <a:tc>
                  <a:txBody>
                    <a:bodyPr/>
                    <a:lstStyle/>
                    <a:p>
                      <a:r>
                        <a:t>가상구역 1</a:t>
                      </a:r>
                    </a:p>
                  </a:txBody>
                  <a:tcPr/>
                </a:tc>
                <a:tc>
                  <a:txBody>
                    <a:bodyPr/>
                    <a:lstStyle/>
                    <a:p>
                      <a:r>
                        <a:t>14100000</a:t>
                      </a:r>
                    </a:p>
                  </a:txBody>
                  <a:tcPr/>
                </a:tc>
                <a:tc>
                  <a:txBody>
                    <a:bodyPr/>
                    <a:lstStyle/>
                    <a:p>
                      <a:r>
                        <a:t>9700000</a:t>
                      </a:r>
                    </a:p>
                  </a:txBody>
                  <a:tcPr/>
                </a:tc>
                <a:tc>
                  <a:txBody>
                    <a:bodyPr/>
                    <a:lstStyle/>
                    <a:p>
                      <a:r>
                        <a:t>4400000</a:t>
                      </a:r>
                    </a:p>
                  </a:txBody>
                  <a:tcPr/>
                </a:tc>
              </a:tr>
              <a:tr h="522516">
                <a:tc>
                  <a:txBody>
                    <a:bodyPr/>
                    <a:lstStyle/>
                    <a:p>
                      <a:r>
                        <a:t>3분기</a:t>
                      </a:r>
                    </a:p>
                  </a:txBody>
                  <a:tcPr/>
                </a:tc>
                <a:tc>
                  <a:txBody>
                    <a:bodyPr/>
                    <a:lstStyle/>
                    <a:p>
                      <a:r>
                        <a:t>2028-09-30</a:t>
                      </a:r>
                    </a:p>
                  </a:txBody>
                  <a:tcPr/>
                </a:tc>
                <a:tc>
                  <a:txBody>
                    <a:bodyPr/>
                    <a:lstStyle/>
                    <a:p>
                      <a:r>
                        <a:t>가상구역 2</a:t>
                      </a:r>
                    </a:p>
                  </a:txBody>
                  <a:tcPr/>
                </a:tc>
                <a:tc>
                  <a:txBody>
                    <a:bodyPr/>
                    <a:lstStyle/>
                    <a:p>
                      <a:r>
                        <a:t>16600000</a:t>
                      </a:r>
                    </a:p>
                  </a:txBody>
                  <a:tcPr/>
                </a:tc>
                <a:tc>
                  <a:txBody>
                    <a:bodyPr/>
                    <a:lstStyle/>
                    <a:p>
                      <a:r>
                        <a:t>11200000</a:t>
                      </a:r>
                    </a:p>
                  </a:txBody>
                  <a:tcPr/>
                </a:tc>
                <a:tc>
                  <a:txBody>
                    <a:bodyPr/>
                    <a:lstStyle/>
                    <a:p>
                      <a:r>
                        <a:t>5400000</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